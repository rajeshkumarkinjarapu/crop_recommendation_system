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94660"/>
  </p:normalViewPr>
  <p:slideViewPr>
    <p:cSldViewPr snapToGrid="0">
      <p:cViewPr>
        <p:scale>
          <a:sx n="66" d="100"/>
          <a:sy n="66" d="100"/>
        </p:scale>
        <p:origin x="1166" y="4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6AE34E-AA47-4AC6-B924-FAEE130623E7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BFD330-5A01-46A6-BC61-7D03671E383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7011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BFD330-5A01-46A6-BC61-7D03671E383E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1558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4/29/2025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E5255-95DC-0A7C-3E2D-E143ABBD5D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128" y="1788453"/>
            <a:ext cx="8361229" cy="2167825"/>
          </a:xfrm>
        </p:spPr>
        <p:txBody>
          <a:bodyPr/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Title:</a:t>
            </a:r>
            <a:b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Crop Recommendation System</a:t>
            </a:r>
            <a:b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856CB9-FA8E-59DE-FBEF-D2995B2DED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51814" y="3283480"/>
            <a:ext cx="7006123" cy="1750677"/>
          </a:xfrm>
        </p:spPr>
        <p:txBody>
          <a:bodyPr>
            <a:noAutofit/>
          </a:bodyPr>
          <a:lstStyle/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    : 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Kinjarapu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Rajesh Kumar</a:t>
            </a:r>
          </a:p>
          <a:p>
            <a:pPr algn="l"/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: 12211048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 :  47</a:t>
            </a:r>
          </a:p>
          <a:p>
            <a:pPr algn="l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  : K22UG</a:t>
            </a:r>
          </a:p>
          <a:p>
            <a:pPr algn="l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       : </a:t>
            </a:r>
          </a:p>
        </p:txBody>
      </p:sp>
      <p:pic>
        <p:nvPicPr>
          <p:cNvPr id="1028" name="Picture 4" descr="LPU Logo DesIgn | Figma">
            <a:extLst>
              <a:ext uri="{FF2B5EF4-FFF2-40B4-BE49-F238E27FC236}">
                <a16:creationId xmlns:a16="http://schemas.microsoft.com/office/drawing/2014/main" id="{353C2933-3FE0-F346-4A34-A4521E870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7150" y="0"/>
            <a:ext cx="4514850" cy="158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pGrad acquires The Gate Academy (TGA)">
            <a:extLst>
              <a:ext uri="{FF2B5EF4-FFF2-40B4-BE49-F238E27FC236}">
                <a16:creationId xmlns:a16="http://schemas.microsoft.com/office/drawing/2014/main" id="{38389FDB-9FD3-01DD-AF0E-EE7009194D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5112" y="0"/>
            <a:ext cx="3059528" cy="158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5826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1958E4-A314-1655-9AA4-B23BEF203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648" y="685800"/>
            <a:ext cx="10250424" cy="1042416"/>
          </a:xfrm>
        </p:spPr>
        <p:txBody>
          <a:bodyPr>
            <a:normAutofit/>
          </a:bodyPr>
          <a:lstStyle/>
          <a:p>
            <a:pPr algn="l">
              <a:spcAft>
                <a:spcPts val="1200"/>
              </a:spcAft>
            </a:pPr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E207D6F4-D4DF-2208-3874-DD886794B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728216"/>
            <a:ext cx="5806440" cy="3986784"/>
          </a:xfrm>
        </p:spPr>
        <p:txBody>
          <a:bodyPr>
            <a:norm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Agriculture is a key sector in India, but farmers often rely on traditional knowledge to select crops.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Problem: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Incorrect crop selection due to lack of data-driven insights.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Leads to poor yield, soil damage, and economic loss.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2050" name="Picture 2" descr="Appreciating the foundation - Future Farming">
            <a:extLst>
              <a:ext uri="{FF2B5EF4-FFF2-40B4-BE49-F238E27FC236}">
                <a16:creationId xmlns:a16="http://schemas.microsoft.com/office/drawing/2014/main" id="{516AA1AD-CB56-75F8-6782-2B82D501C4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67728" y="1499616"/>
            <a:ext cx="5038344" cy="347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36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A90B204-C883-EB34-0429-744E53492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5920" y="886968"/>
            <a:ext cx="5001768" cy="996696"/>
          </a:xfrm>
        </p:spPr>
        <p:txBody>
          <a:bodyPr>
            <a:normAutofit fontScale="90000"/>
          </a:bodyPr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4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3AE7FE4-A328-FE29-9B19-860FCB2AA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65960"/>
            <a:ext cx="5696712" cy="3901440"/>
          </a:xfrm>
        </p:spPr>
        <p:txBody>
          <a:bodyPr/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machine learning model to recommend the most suitable crop.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 on soil nutrients (N, P, K), temperature, humidity, pH, and rainfall.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Achieve high model accuracy (&gt;95%) in predicting crop type.</a:t>
            </a: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3074" name="Picture 2" descr="GitHub - anandanraju/Crop_Recommendation_System_Using_MachineLearning ...">
            <a:extLst>
              <a:ext uri="{FF2B5EF4-FFF2-40B4-BE49-F238E27FC236}">
                <a16:creationId xmlns:a16="http://schemas.microsoft.com/office/drawing/2014/main" id="{4D960865-F5EA-B92F-4BFE-E2EEACD990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9128" y="1435608"/>
            <a:ext cx="5294376" cy="3703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9448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F1FB8-5522-299C-8AE4-681D2165B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9317736" cy="1069848"/>
          </a:xfrm>
        </p:spPr>
        <p:txBody>
          <a:bodyPr>
            <a:normAutofit/>
          </a:bodyPr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Dataset</a:t>
            </a:r>
            <a:b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591B82E-B50C-0ABE-89EC-EEB888A37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01952"/>
            <a:ext cx="5955175" cy="396544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Kaggle – Crop</a:t>
            </a:r>
            <a:r>
              <a:rPr lang="en-IN" sz="24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ecommendation Dataset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Features:</a:t>
            </a:r>
            <a:endParaRPr lang="en-IN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N, P, K (macronutrients)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Temperature (°C), Humidity (%), pH, Rainfall (mm)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Label (Crop type)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Size:</a:t>
            </a:r>
            <a:r>
              <a:rPr lang="en-IN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2200+ rows × 8 columns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3D7E1F5-2A58-B15E-B81A-F3D505B397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453" y="1901951"/>
            <a:ext cx="4805491" cy="3965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581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0748-409F-EA93-C20A-B3DB4CC49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6284" y="990600"/>
            <a:ext cx="5347503" cy="1034970"/>
          </a:xfrm>
        </p:spPr>
        <p:txBody>
          <a:bodyPr>
            <a:noAutofit/>
          </a:bodyPr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  <a:br>
              <a:rPr lang="en-IN" sz="3600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E7AC6-7AC7-94FB-D16F-1826C56A7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705" y="2025570"/>
            <a:ext cx="4184248" cy="3841830"/>
          </a:xfrm>
        </p:spPr>
        <p:txBody>
          <a:bodyPr>
            <a:normAutofit fontScale="850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missing values found.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Applied </a:t>
            </a:r>
            <a:r>
              <a:rPr lang="en-IN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 transformation</a:t>
            </a:r>
            <a:r>
              <a:rPr lang="en-IN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on “rainfall” to reduce skewness.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numeric columns using </a:t>
            </a:r>
            <a:r>
              <a:rPr lang="en-US" sz="2800" b="1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br>
              <a:rPr lang="en-US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6F7837-CFCC-B27F-5AAA-B22E442A4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320" y="434400"/>
            <a:ext cx="6377650" cy="622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133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FB574-579E-1F7F-B470-30948055A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86138"/>
            <a:ext cx="6892724" cy="873888"/>
          </a:xfrm>
        </p:spPr>
        <p:txBody>
          <a:bodyPr>
            <a:normAutofit fontScale="9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N" sz="4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  <a:b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69B9A-100B-29B0-AAD3-27CF9F166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145894"/>
            <a:ext cx="5411165" cy="3773347"/>
          </a:xfrm>
        </p:spPr>
        <p:txBody>
          <a:bodyPr>
            <a:no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Boxplot to identify outliers in numeric columns.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Count plot &amp; Pair </a:t>
            </a:r>
            <a:r>
              <a:rPr lang="en-US" sz="2400" b="0" i="0" dirty="0" err="1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plotof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each crop type.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Correlation heatmap to understand feature relationships.</a:t>
            </a:r>
          </a:p>
          <a:p>
            <a:pPr>
              <a:buNone/>
            </a:pPr>
            <a:br>
              <a:rPr lang="en-US" sz="2400" dirty="0"/>
            </a:b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915608-EC93-141D-0A0C-7A1D39A05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9343" y="1145894"/>
            <a:ext cx="5411165" cy="27084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707650-F258-1B0E-525E-BF24E7E8D5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699" y="4033778"/>
            <a:ext cx="11059809" cy="2708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5987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AFAF-1573-EFF8-45A3-B32C8A66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74562"/>
            <a:ext cx="9601200" cy="821803"/>
          </a:xfrm>
        </p:spPr>
        <p:txBody>
          <a:bodyPr>
            <a:noAutofit/>
          </a:bodyPr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Selection</a:t>
            </a:r>
            <a:br>
              <a:rPr lang="en-IN" sz="3600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8DF22-E33F-858E-9DCD-407546009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296365"/>
            <a:ext cx="10179934" cy="5359077"/>
          </a:xfrm>
        </p:spPr>
        <p:txBody>
          <a:bodyPr>
            <a:normAutofit fontScale="25000" lnSpcReduction="20000"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Algorithms tried: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</a:t>
            </a:r>
          </a:p>
          <a:p>
            <a:pPr marL="742950" lvl="1" indent="-28575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i="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US" sz="8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IN" sz="8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 Vector Machine (SVM)</a:t>
            </a:r>
            <a:endParaRPr lang="en-US" sz="8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Why these?</a:t>
            </a:r>
            <a:endParaRPr lang="en-US" sz="8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diverse mix of models was used to compare performance across different learning complexities.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and Logistic Regression provide fast, interpretable baselines for classification.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and SVM handle non-linearity, reduce overfitting, and improve overall accuracy.</a:t>
            </a:r>
          </a:p>
          <a:p>
            <a:pPr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8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 models support multi-class classification, making them suitable for predicting various crops.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7968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062DB-34F4-91EC-BF93-2B4DE20E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894144"/>
            <a:ext cx="9601200" cy="842058"/>
          </a:xfrm>
        </p:spPr>
        <p:txBody>
          <a:bodyPr>
            <a:normAutofit fontScale="90000"/>
          </a:bodyPr>
          <a:lstStyle/>
          <a:p>
            <a:r>
              <a:rPr lang="en-IN" sz="4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Training</a:t>
            </a:r>
            <a:b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687FE-6CF4-608F-F9BE-10EAB0745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176041"/>
            <a:ext cx="5573210" cy="3691359"/>
          </a:xfrm>
        </p:spPr>
        <p:txBody>
          <a:bodyPr/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 split into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train-test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(80-20).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complex tuning, used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default or minimal hyperparameters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Used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libraries for all models.</a:t>
            </a:r>
          </a:p>
          <a:p>
            <a:endParaRPr lang="en-IN" dirty="0"/>
          </a:p>
        </p:txBody>
      </p:sp>
      <p:sp>
        <p:nvSpPr>
          <p:cNvPr id="4" name="AutoShape 2" descr="Figure 1 from Machine Learning Based Crop Recommendation Model in ...">
            <a:extLst>
              <a:ext uri="{FF2B5EF4-FFF2-40B4-BE49-F238E27FC236}">
                <a16:creationId xmlns:a16="http://schemas.microsoft.com/office/drawing/2014/main" id="{9A07A26A-ACDC-5B75-1BF7-3991919368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1306975"/>
            <a:ext cx="2274425" cy="227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6" descr="Crop Recommendation System Using Machine Learning">
            <a:extLst>
              <a:ext uri="{FF2B5EF4-FFF2-40B4-BE49-F238E27FC236}">
                <a16:creationId xmlns:a16="http://schemas.microsoft.com/office/drawing/2014/main" id="{660BC992-DA29-5873-54DE-F10BC551D1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AutoShape 8" descr="Crop Recommendation System Using Machine Learning">
            <a:extLst>
              <a:ext uri="{FF2B5EF4-FFF2-40B4-BE49-F238E27FC236}">
                <a16:creationId xmlns:a16="http://schemas.microsoft.com/office/drawing/2014/main" id="{60126121-7A8C-8F66-6ABA-0892089230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348D80C-D3A9-A2DB-3575-3B472A423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3200" y="628650"/>
            <a:ext cx="5276850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545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3D3DD-ACE8-E8AF-7AF6-55630BFCC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735256" cy="1281896"/>
          </a:xfrm>
        </p:spPr>
        <p:txBody>
          <a:bodyPr>
            <a:normAutofit/>
          </a:bodyPr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 and Evaluation</a:t>
            </a:r>
            <a:b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A2D96-56CD-6CE8-A5EC-E054BE903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67697"/>
            <a:ext cx="6267691" cy="3773346"/>
          </a:xfrm>
        </p:spPr>
        <p:txBody>
          <a:bodyPr>
            <a:normAutofit fontScale="85000" lnSpcReduction="20000"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Best Accuracy:</a:t>
            </a:r>
          </a:p>
          <a:p>
            <a:pPr marL="0" indent="0" algn="l">
              <a:spcAft>
                <a:spcPts val="1200"/>
              </a:spcAft>
              <a:buNone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2800" b="0" i="1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– 98%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 used:</a:t>
            </a:r>
          </a:p>
          <a:p>
            <a:pPr marL="800100" lvl="1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Accuracy, </a:t>
            </a:r>
          </a:p>
          <a:p>
            <a:pPr marL="800100" lvl="1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Precision,</a:t>
            </a:r>
          </a:p>
          <a:p>
            <a:pPr marL="800100" lvl="1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Recall,</a:t>
            </a:r>
          </a:p>
          <a:p>
            <a:pPr marL="800100" lvl="1" indent="-342900" algn="l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8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F1-Score</a:t>
            </a:r>
          </a:p>
          <a:p>
            <a:endParaRPr lang="en-IN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0EFAE37E-D0FA-1DCB-5CB8-FFAA089EF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1757" y="1469986"/>
            <a:ext cx="6701742" cy="45025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313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4C1A4-2B8F-B913-7C71-FA30763FF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073552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Model and Key Findings</a:t>
            </a:r>
            <a:b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3BB4-C8BB-D3C2-0369-265F91D9E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44547"/>
            <a:ext cx="9601200" cy="4227653"/>
          </a:xfrm>
        </p:spPr>
        <p:txBody>
          <a:bodyPr/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 Model: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Random Forest Classifier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Accuracy: 98%, Robust against overfitting.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effective in distinguishing between crop types.</a:t>
            </a:r>
            <a:endParaRPr lang="en-IN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 maintained stability across cross-validation folds.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offered feature importance insights to understand influential parameters.</a:t>
            </a:r>
          </a:p>
          <a:p>
            <a:pPr marL="0" indent="0" algn="l">
              <a:spcAft>
                <a:spcPts val="1200"/>
              </a:spcAft>
              <a:buNone/>
            </a:pPr>
            <a:endParaRPr lang="en-US" b="0" i="0" dirty="0">
              <a:solidFill>
                <a:srgbClr val="0D0D0D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1930746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CC946-E4C7-41BF-5FF3-E72D6A5F8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7347" y="1171937"/>
            <a:ext cx="9601200" cy="1362919"/>
          </a:xfrm>
        </p:spPr>
        <p:txBody>
          <a:bodyPr>
            <a:normAutofit/>
          </a:bodyPr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</a:t>
            </a:r>
            <a:br>
              <a:rPr lang="en-IN" sz="3600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0F04DA-428D-E5CA-D131-C0A882B3C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16552"/>
            <a:ext cx="9601200" cy="3581400"/>
          </a:xfrm>
        </p:spPr>
        <p:txBody>
          <a:bodyPr/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Feature scaling requirement.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Slight imbalance in crop label counts.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 confusion between crops with similar conditions.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Similar crop requirements caused overlapping predictions.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Required tuning to balance bias-variance in ensemble methods.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77777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2EB19-A2AF-39A6-11C4-F8648121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5772" y="1137212"/>
            <a:ext cx="9601200" cy="1485900"/>
          </a:xfrm>
        </p:spPr>
        <p:txBody>
          <a:bodyPr>
            <a:normAutofit fontScale="90000"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  <a:t> </a:t>
            </a:r>
            <a:r>
              <a:rPr lang="en-IN" sz="4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  <a:b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</a:br>
            <a:br>
              <a:rPr lang="en-IN" b="0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66A7C-3641-B99B-88C2-0ECE4B9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Incorporate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data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soil type and geolocation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features.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web/mobile interface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for farmers.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Explore 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remote sensing-based prediction.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farmer feedback 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improve model adaptability.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222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D23A3-FAC2-F8B4-0120-C57AA07F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9944" y="1160363"/>
            <a:ext cx="9601200" cy="1485900"/>
          </a:xfrm>
        </p:spPr>
        <p:txBody>
          <a:bodyPr/>
          <a:lstStyle/>
          <a:p>
            <a:r>
              <a:rPr lang="en-IN" sz="36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br>
              <a:rPr lang="en-IN" b="1" i="0" dirty="0">
                <a:solidFill>
                  <a:srgbClr val="0D0D0D"/>
                </a:solidFill>
                <a:effectLst/>
                <a:latin typeface="ui-sans-serif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2D4C-E708-1A93-4562-54C0F3D644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a high-performing ML model to assist farmers.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Data-driven farming can optimize yield and sustainability.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expansion can empower rural agriculture using AI.</a:t>
            </a:r>
            <a:endParaRPr lang="en-IN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Demonstrated practical use of ML in agriculture.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Supports scalable solutions for precision farming.</a:t>
            </a:r>
          </a:p>
          <a:p>
            <a:pPr algn="l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8893591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{5A751009-BD5E-4276-8170-04224D3F1B34}tf10001105</Template>
  <TotalTime>198</TotalTime>
  <Words>525</Words>
  <Application>Microsoft Office PowerPoint</Application>
  <PresentationFormat>Widescreen</PresentationFormat>
  <Paragraphs>81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Franklin Gothic Book</vt:lpstr>
      <vt:lpstr>Times New Roman</vt:lpstr>
      <vt:lpstr>ui-sans-serif</vt:lpstr>
      <vt:lpstr>Wingdings</vt:lpstr>
      <vt:lpstr>Crop</vt:lpstr>
      <vt:lpstr>Title:  Crop Recommendation System </vt:lpstr>
      <vt:lpstr>Problem Statement </vt:lpstr>
      <vt:lpstr>  Objective </vt:lpstr>
      <vt:lpstr> Dataset </vt:lpstr>
      <vt:lpstr>Data Preprocessing </vt:lpstr>
      <vt:lpstr>Exploratory Data Analysis (EDA) </vt:lpstr>
      <vt:lpstr>Model Selection </vt:lpstr>
      <vt:lpstr>Model Training </vt:lpstr>
      <vt:lpstr>Results and Evaluation </vt:lpstr>
      <vt:lpstr>Final Model and Key Findings </vt:lpstr>
      <vt:lpstr>Challenges Faced </vt:lpstr>
      <vt:lpstr> Future Work  </vt:lpstr>
      <vt:lpstr>Conclusion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RAJESH KUMAR</dc:creator>
  <cp:lastModifiedBy>RAJESH KUMAR</cp:lastModifiedBy>
  <cp:revision>1</cp:revision>
  <dcterms:created xsi:type="dcterms:W3CDTF">2025-04-29T09:10:00Z</dcterms:created>
  <dcterms:modified xsi:type="dcterms:W3CDTF">2025-04-29T12:28:27Z</dcterms:modified>
</cp:coreProperties>
</file>